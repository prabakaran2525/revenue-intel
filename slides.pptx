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91440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1F5F9"/>
                </a:solidFill>
              </a:defRPr>
            </a:pPr>
            <a:r>
              <a:t>SLIDE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The Manager Problem &amp; 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8686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Navigating noisy calls, late transcripts, and conflicting CRM signals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28416" cy="4754880"/>
          </a:xfrm>
          <a:prstGeom prst="roundRect">
            <a:avLst/>
          </a:prstGeom>
          <a:solidFill>
            <a:srgbClr val="1A1F35"/>
          </a:solidFill>
          <a:ln w="19050">
            <a:solidFill>
              <a:srgbClr val="28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29626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18CF8"/>
                </a:solidFill>
              </a:defRPr>
            </a:pPr>
            <a:r>
              <a:t>The Manager Dilemma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Revenue leaders receive fragmented calls, calendar invites, and unstandardized notes across siloed tools.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Transcripts arrive asynchronously or fail to record entirely.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Stored CRM labels frequently contradict prospect statements in real conversations.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17320"/>
            <a:ext cx="3328416" cy="4754880"/>
          </a:xfrm>
          <a:prstGeom prst="roundRect">
            <a:avLst/>
          </a:prstGeom>
          <a:solidFill>
            <a:srgbClr val="1A1F35"/>
          </a:solidFill>
          <a:ln w="19050">
            <a:solidFill>
              <a:srgbClr val="28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554480"/>
            <a:ext cx="29626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18CF8"/>
                </a:solidFill>
              </a:defRPr>
            </a:pPr>
            <a:r>
              <a:t>Key Findings (21 Aug 2026, Kolkata)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19456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44 logical interactions: 30 calls + 14 meetings.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Text coverage: Only 18 records (40.9%) have usable text; 26 records lack text and must not have fake summaries invented.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Call connection rate: 36.7% (11 of 30 calls connected).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417320"/>
            <a:ext cx="3328416" cy="4754880"/>
          </a:xfrm>
          <a:prstGeom prst="roundRect">
            <a:avLst/>
          </a:prstGeom>
          <a:solidFill>
            <a:srgbClr val="1A1F35"/>
          </a:solidFill>
          <a:ln w="19050">
            <a:solidFill>
              <a:srgbClr val="28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554480"/>
            <a:ext cx="29626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18CF8"/>
                </a:solidFill>
              </a:defRPr>
            </a:pPr>
            <a:r>
              <a:t>Top Three Actionable Signals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19456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M07 (Willowfield): 4 severe software bugs reported (turns 2, 8, 16, 22); escalated to dev team.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M03 (Asterloom): Pricing quote conflict (INR 26k vs 39k document) surfaced in Turn 24.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C10 (Meadowbrick): Contact departed 6 months ago (Turn 1); CRM list updated.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91440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1F5F9"/>
                </a:solidFill>
              </a:defRPr>
            </a:pPr>
            <a:r>
              <a:t>SLIDE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Interface Choices &amp; Deliberate Omissions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8686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Designing for cognitive clarity, rapid triage, and high trust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28416" cy="4754880"/>
          </a:xfrm>
          <a:prstGeom prst="roundRect">
            <a:avLst/>
          </a:prstGeom>
          <a:solidFill>
            <a:srgbClr val="1A1F35"/>
          </a:solidFill>
          <a:ln w="19050">
            <a:solidFill>
              <a:srgbClr val="28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29626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18CF8"/>
                </a:solidFill>
              </a:defRPr>
            </a:pPr>
            <a:r>
              <a:t>High-Density Command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Dark-mode SaaS workspace with glowing status badges and responsive layout.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Top-level metric cards act as live filters (e.g. clicking 'Needs Review' isolates exceptions).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Clean visual separation between calls and meetings, avoiding misleading aggregate conflation.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17320"/>
            <a:ext cx="3328416" cy="4754880"/>
          </a:xfrm>
          <a:prstGeom prst="roundRect">
            <a:avLst/>
          </a:prstGeom>
          <a:solidFill>
            <a:srgbClr val="1A1F35"/>
          </a:solidFill>
          <a:ln w="19050">
            <a:solidFill>
              <a:srgbClr val="28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554480"/>
            <a:ext cx="29626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18CF8"/>
                </a:solidFill>
              </a:defRPr>
            </a:pPr>
            <a:r>
              <a:t>Slide-Out Conversation Inspector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19456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Context-preserving drawer displays full turn-by-turn dialogue alongside extracted insights.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Explicit speaker attribution with timecodes for meetings.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Dedicated coaching notes and next-step ownership blocks.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417320"/>
            <a:ext cx="3328416" cy="4754880"/>
          </a:xfrm>
          <a:prstGeom prst="roundRect">
            <a:avLst/>
          </a:prstGeom>
          <a:solidFill>
            <a:srgbClr val="1A1F35"/>
          </a:solidFill>
          <a:ln w="19050">
            <a:solidFill>
              <a:srgbClr val="28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554480"/>
            <a:ext cx="29626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18CF8"/>
                </a:solidFill>
              </a:defRPr>
            </a:pPr>
            <a:r>
              <a:t>What We Deliberately Left 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19456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Speculative pipeline dollar values: no CRM deal table was provided, so guessing amounts produces false precision.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Cross-rep rankings: comparing outbound cold callers to demo meeting organizers is statistically invalid.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Distracting decorative charts that do not inform immediate managerial 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91440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1F5F9"/>
                </a:solidFill>
              </a:defRPr>
            </a:pPr>
            <a:r>
              <a:t>SLIDE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Routing Architecture &amp; The Difficult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8686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Evidence-backed taxonomy preventing pipeline contamination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28416" cy="4754880"/>
          </a:xfrm>
          <a:prstGeom prst="roundRect">
            <a:avLst/>
          </a:prstGeom>
          <a:solidFill>
            <a:srgbClr val="1A1F35"/>
          </a:solidFill>
          <a:ln w="19050">
            <a:solidFill>
              <a:srgbClr val="28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29626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18CF8"/>
                </a:solidFill>
              </a:defRPr>
            </a:pPr>
            <a:r>
              <a:t>Routing Taxonomy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Sales Prospecting (cold outreach qualification)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Sales Follow-up (active deal progression)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Partnership Development (referral networks)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Customer Success (support, bugs, onboarding)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Vendor Evaluation (SpendNest procuring)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Product Discovery (in-depth prospect demo)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Internal Training (team knowledge transfer)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Needs Review (missing or conflicting data)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17320"/>
            <a:ext cx="3328416" cy="4754880"/>
          </a:xfrm>
          <a:prstGeom prst="roundRect">
            <a:avLst/>
          </a:prstGeom>
          <a:solidFill>
            <a:srgbClr val="1A1F35"/>
          </a:solidFill>
          <a:ln w="19050">
            <a:solidFill>
              <a:srgbClr val="28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554480"/>
            <a:ext cx="29626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18CF8"/>
                </a:solidFill>
              </a:defRPr>
            </a:pPr>
            <a:r>
              <a:t>The Difficult Case: M02 (LedgerBridge)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19456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Ambiguity: Initial calendar metadata resembled an outbound sales meeting.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Evidence: Transcript inspection showed SpendNest internal leadership negotiating issuing rails and pricing from LedgerBridge.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Resolution: Routed to Vendor Evaluation with procurement next steps, keeping sales quota metrics unpolluted.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417320"/>
            <a:ext cx="3328416" cy="4754880"/>
          </a:xfrm>
          <a:prstGeom prst="roundRect">
            <a:avLst/>
          </a:prstGeom>
          <a:solidFill>
            <a:srgbClr val="1A1F35"/>
          </a:solidFill>
          <a:ln w="19050">
            <a:solidFill>
              <a:srgbClr val="28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554480"/>
            <a:ext cx="29626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18CF8"/>
                </a:solidFill>
              </a:defRPr>
            </a:pPr>
            <a:r>
              <a:t>Export Organization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19456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Structured output directory: exports/manifest.json/csv, exports/analysis/*.json, exports/manager_brief.md.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Every manifest path is verified to exist on disk.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1-click ZIP archive generator built into the UI.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91440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1F5F9"/>
                </a:solidFill>
              </a:defRPr>
            </a:pPr>
            <a:r>
              <a:t>SLIDE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Verification of Numbers &amp; Evidence Tracing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8686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Mathematically sound denominators and quote-level auditability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28416" cy="4754880"/>
          </a:xfrm>
          <a:prstGeom prst="roundRect">
            <a:avLst/>
          </a:prstGeom>
          <a:solidFill>
            <a:srgbClr val="1A1F35"/>
          </a:solidFill>
          <a:ln w="19050">
            <a:solidFill>
              <a:srgbClr val="28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29626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18CF8"/>
                </a:solidFill>
              </a:defRPr>
            </a:pPr>
            <a:r>
              <a:t>Rigorous Numerical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Composite Identity: Keyed strictly by (source_type, source_id).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Idempotency Proof: Re-importing batch 1 processes 44 records: 0 new, 0 updated, 44 skipped.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Revision Ordering: Batch 2 updates M07 from rev 1 to 2 without adding a 45th record.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Rep Distinction: 5 call reps separated from meeting organizers.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17320"/>
            <a:ext cx="3328416" cy="4754880"/>
          </a:xfrm>
          <a:prstGeom prst="roundRect">
            <a:avLst/>
          </a:prstGeom>
          <a:solidFill>
            <a:srgbClr val="1A1F35"/>
          </a:solidFill>
          <a:ln w="19050">
            <a:solidFill>
              <a:srgbClr val="28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554480"/>
            <a:ext cx="29626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18CF8"/>
                </a:solidFill>
              </a:defRPr>
            </a:pPr>
            <a:r>
              <a:t>Auditable Evidence Anchors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19456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M04 Churn threat: 'If we cannot resolve the credit limit issue, we will have to evaluate alternative platforms.' (Turn 19)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M09 Login failure: 'The token link sent by the system had expired by the time our IT team attempted to authenticate.' (Turn 4)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C01 Rejection: 'I didn\'t ask for this call, and I\'m not interested.' (Quote)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417320"/>
            <a:ext cx="3328416" cy="4754880"/>
          </a:xfrm>
          <a:prstGeom prst="roundRect">
            <a:avLst/>
          </a:prstGeom>
          <a:solidFill>
            <a:srgbClr val="1A1F35"/>
          </a:solidFill>
          <a:ln w="19050">
            <a:solidFill>
              <a:srgbClr val="28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554480"/>
            <a:ext cx="29626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18CF8"/>
                </a:solidFill>
              </a:defRPr>
            </a:pPr>
            <a:r>
              <a:t>Handling Missing Material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19456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26 records lack usable text (e.g. B01-B20, cancelled notetakers).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System displays explicit intake reasons rather than generating hallucinated summaries.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All 44 records maintain clear review and freshness states.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91440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1F5F9"/>
                </a:solidFill>
              </a:defRPr>
            </a:pPr>
            <a:r>
              <a:t>SLIDE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Trade-offs, AI Usage, Limitations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8686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Practical engineering decisions and paths to production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28416" cy="4754880"/>
          </a:xfrm>
          <a:prstGeom prst="roundRect">
            <a:avLst/>
          </a:prstGeom>
          <a:solidFill>
            <a:srgbClr val="1A1F35"/>
          </a:solidFill>
          <a:ln w="19050">
            <a:solidFill>
              <a:srgbClr val="28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29626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18CF8"/>
                </a:solidFill>
              </a:defRPr>
            </a:pPr>
            <a:r>
              <a:t>AI Usage &amp; Determinism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Pre-generated analysis packaged in analysis.js for 100% offline reliability, speed, and privacy.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Zero runtime token costs, credentials, or API failure points.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Late transcript updates trigger stale flags for human managerial sign-off.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17320"/>
            <a:ext cx="3328416" cy="4754880"/>
          </a:xfrm>
          <a:prstGeom prst="roundRect">
            <a:avLst/>
          </a:prstGeom>
          <a:solidFill>
            <a:srgbClr val="1A1F35"/>
          </a:solidFill>
          <a:ln w="19050">
            <a:solidFill>
              <a:srgbClr val="28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554480"/>
            <a:ext cx="29626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18CF8"/>
                </a:solidFill>
              </a:defRPr>
            </a:pPr>
            <a:r>
              <a:t>Architectural Trade-offs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19456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Vanilla JS &amp; LocalStorage: chosen over complex Docker/Node stacks to run immediately on any reviewer machine.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Manual route overrides survive re-imports, browser refreshes, and late updates.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Limitation: Single-user browser storage; production would use PostgreSQL.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417320"/>
            <a:ext cx="3328416" cy="4754880"/>
          </a:xfrm>
          <a:prstGeom prst="roundRect">
            <a:avLst/>
          </a:prstGeom>
          <a:solidFill>
            <a:srgbClr val="1A1F35"/>
          </a:solidFill>
          <a:ln w="19050">
            <a:solidFill>
              <a:srgbClr val="28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554480"/>
            <a:ext cx="29626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18CF8"/>
                </a:solidFill>
              </a:defRPr>
            </a:pPr>
            <a:r>
              <a:t>Production 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19456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Multi-tenant Cloud DB with row-level security and audit logging.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Real-time audio streaming with Whisper/Deepgram STT.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</a:defRPr>
            </a:pPr>
            <a:r>
              <a:t>• Bi-directional CRM sync (Salesforce/HubSpot) to automatically assign follow-ups and update stages.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